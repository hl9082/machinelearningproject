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aleway"/>
      <p:regular r:id="rId23"/>
      <p:bold r:id="rId24"/>
      <p:italic r:id="rId25"/>
      <p:boldItalic r:id="rId26"/>
    </p:embeddedFont>
    <p:embeddedFont>
      <p:font typeface="Roboto"/>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latin typeface="Times New Roman"/>
                <a:ea typeface="Times New Roman"/>
                <a:cs typeface="Times New Roman"/>
                <a:sym typeface="Times New Roman"/>
              </a:rPr>
              <a:t>Speaker: Huy Le</a:t>
            </a:r>
            <a:endParaRPr sz="15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500">
                <a:latin typeface="Times New Roman"/>
                <a:ea typeface="Times New Roman"/>
                <a:cs typeface="Times New Roman"/>
                <a:sym typeface="Times New Roman"/>
              </a:rPr>
              <a:t>Good afternoon, everyone. We are excited to present our Multi-Model Language Classification project. Our team, consisting of Jesse, Noah, and myself, set out to solve a very specific problem: Can a machine learning pipeline accurately classify a text snippet as English, French, or Spanish by only looking at its 'function words'? Today, we will walk you through our data pipeline, the three distinct model architectures we trained, and what the data revealed about the linguistic fingerprints of these three languages."</a:t>
            </a:r>
            <a:endParaRPr sz="1500">
              <a:latin typeface="Times New Roman"/>
              <a:ea typeface="Times New Roman"/>
              <a:cs typeface="Times New Roman"/>
              <a:sym typeface="Times New Roman"/>
            </a:endParaRPr>
          </a:p>
          <a:p>
            <a:pPr indent="0" lvl="0" marL="0" rtl="0" algn="l">
              <a:spcBef>
                <a:spcPts val="1200"/>
              </a:spcBef>
              <a:spcAft>
                <a:spcPts val="0"/>
              </a:spcAft>
              <a:buNone/>
            </a:pPr>
            <a:r>
              <a:t/>
            </a:r>
            <a:endParaRPr sz="1500">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65fbc86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65fbc86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65fbc86ad_0_1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65fbc86ad_0_1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65fbc86ad_0_1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65fbc86ad_0_1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5f35f43c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5f35f43c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Jesse</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Once the text was standardized, we had to convert it into a format the models could understand. We hypothesized that 'function words' act as a unique statistical fingerprint for a language. I engineered a script that isolates 31 specific function words across English, Spanish, and French. Using Scikit-Learn's CountVectorizer, we mapped our text data against this predefined 31-word vocabulary. Essentially, every 15-word sentence was transformed into a 31-dimensional numerical vector representing word frequencies. We also used a LabelEncoder to map our target languages to integers. These arrays were saved as our master X and Y training files.</a:t>
            </a:r>
            <a:endParaRPr sz="1500">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5f35f43c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5f35f43c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Huy</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With our features encoded, we moved to the modeling phase. We initially used a simple Decision Tree Classifier with a max depth of 10 and a 20% test split as our baseline. To meet the project requirements and improve robustness, we expanded our pipeline to include two advanced architectures. First, an ensemble Random Forest model, which uses 'majority voting' across multiple decision trees to prevent overfitting. Second, a Multi-Layer Perceptron Neural Network to capture non-linear relationships—for instance, identifying if the combination of two specific words carries more weight than either word alone.</a:t>
            </a:r>
            <a:endParaRPr sz="1500">
              <a:latin typeface="Times New Roman"/>
              <a:ea typeface="Times New Roman"/>
              <a:cs typeface="Times New Roman"/>
              <a:sym typeface="Times New Roman"/>
            </a:endParaRPr>
          </a:p>
          <a:p>
            <a:pPr indent="0" lvl="0" marL="0" rtl="0" algn="l">
              <a:spcBef>
                <a:spcPts val="0"/>
              </a:spcBef>
              <a:spcAft>
                <a:spcPts val="0"/>
              </a:spcAft>
              <a:buNone/>
            </a:pPr>
            <a:r>
              <a:t/>
            </a:r>
            <a:endParaRPr sz="1500">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5f35f43c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5f35f43c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Huy</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Instead of manually guessing the best settings for these models, we implemented Grid Search Cross-Validation (a technique for hyperparameter tuning that combines an exhaustive search of specific parameter values with cross-validation to find the most effective settings for a machine learning model). This allowed us to programmatically test combinations of hyperparameters—like the depth of the trees or the number of hidden layers in the neural network. By using 5-fold cross-validation, we ensured that our winning parameters were genuinely learning the underlying patterns of the languages, rather than just memorizing a specific random split of the training data.</a:t>
            </a:r>
            <a:endParaRPr sz="1500">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78032122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78032122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Huy Le</a:t>
            </a:r>
            <a:endParaRPr/>
          </a:p>
          <a:p>
            <a:pPr indent="0" lvl="0" marL="0" rtl="0" algn="l">
              <a:spcBef>
                <a:spcPts val="0"/>
              </a:spcBef>
              <a:spcAft>
                <a:spcPts val="0"/>
              </a:spcAft>
              <a:buNone/>
            </a:pPr>
            <a:r>
              <a:rPr lang="en"/>
              <a:t>We didn't guess the parameters. We defined a hyperparameter space and used 5-Fold Grid Search Cross-Validation. The algorithm automatically evaluated every combination of our grid, effectively training hundreds of models in the background. The JSON file represents the exact mathematical combinations that yielded the highest average validation accuracy across all 5 folds.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798daeab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798daeab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found that performance was almost identical between training and test sets, indicating that no overfitting has occurred and suggesting that the feature space was easily separable based on the features we chose. Performance was also very similar between different models, though Random Forest proved to be the strongest by a narrow margin. We believe that this is due to the data being easy to separate, meaning that the complexity and nonlinearity offered by the MLP was </a:t>
            </a:r>
            <a:r>
              <a:rPr lang="en"/>
              <a:t>unnecessary. All three models were better at correctly identifying English text than the other languages, likely because French and Spanish are more similar to each other than they are to English (more on this later).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798daeab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798daeab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798daeabb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798daeabb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7803212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7803212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Huy Le</a:t>
            </a:r>
            <a:endParaRPr/>
          </a:p>
          <a:p>
            <a:pPr indent="0" lvl="0" marL="0" rtl="0" algn="l">
              <a:spcBef>
                <a:spcPts val="0"/>
              </a:spcBef>
              <a:spcAft>
                <a:spcPts val="0"/>
              </a:spcAft>
              <a:buNone/>
            </a:pPr>
            <a:r>
              <a:rPr lang="en"/>
              <a:t>For our traditional and ensemble models, we generated Learning Curves, which map Accuracy against the Volume of Training Data. Because Decision Trees and Random Forests are grown mathematically rather than trained iteratively over time, standard epoch loss curves do not apply to them. Instead, these learning curves show us our model's capacity. As you can see, as we feed the models more training examples, the gap between training accuracy (red) and validation accuracy (green) narrows. This proves our models are learning the generalized function word patterns rather than just memorizing the training data, and tells us whether fetching more data from Kaggle would improve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our tree-based models, our Multi-Layer Perceptron trains iteratively using gradient descent over epochs, allowing us to plot a true Loss Curve. This graph tracks the network's error rate as it updates its internal weights. As you can see, the loss starts high but drops steeply during the first few dozen iterations before flattening out. This steep descent visually proves that the network successfully converged and found the optimal mathematical weights to distinguish between English, French, and Spanish based on our 31 function words.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5f35f43c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5f35f43c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Noah Shin</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Let's look at the results. As you can see from our Random Forest confusion matrix, the models were exceptionally good at identifying English. Out of our testing set, it correctly classified English 793 times, misclassifying it as French only once, and never as Spanish. This aligns with our feature engineering hypothesis: English function words like 'the' and 'and' are highly isolated and almost never appear in Romance languages, creating a very distinct statistical cluster.</a:t>
            </a:r>
            <a:endParaRPr sz="1500">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5f35f43c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5f35f43c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Jesse</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However, the models faced a much harder challenge distinguishing between French and Spanish. Looking at our Decision Tree's confusion matrix, we can see that actual French text was misclassified as Spanish 64 times. The Neural Network struggled similarly, misclassifying it 65 times. Linguistically, this makes perfect sense. They are both Romance languages that share structural similarities and overlapping vocabulary, such as the word 'un' or 'en'. When a 15-word snippet contains shared words but lacks strong unique identifiers, the models are forced into a difficult mathematical coin-flip.</a:t>
            </a:r>
            <a:endParaRPr sz="1500">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5f35f43c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5f35f43c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Speaker: Jesse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Decision Tree is what we call a "greedy" algorithm. It looks at your entire training dataset and tries to find the single feature that splits the data most perfectly right at that exact moment.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it struggles with your data:</a:t>
            </a:r>
            <a:r>
              <a:rPr lang="en">
                <a:solidFill>
                  <a:schemeClr val="dk1"/>
                </a:solidFill>
              </a:rPr>
              <a:t> Let's say the tree is trying to separate French and Spanish. It might look at your data and decide the root split should be: </a:t>
            </a:r>
            <a:r>
              <a:rPr i="1" lang="en">
                <a:solidFill>
                  <a:schemeClr val="dk1"/>
                </a:solidFill>
              </a:rPr>
              <a:t>"Does the sentence contain the word 'un'?"</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Rigidity:</a:t>
            </a:r>
            <a:r>
              <a:rPr lang="en">
                <a:solidFill>
                  <a:schemeClr val="dk1"/>
                </a:solidFill>
              </a:rPr>
              <a:t> Once a Decision Tree makes a split, it is permanent. If a French sentence contains "un", it gets funneled down a specific path. If the subsequent questions on that path aren't perfectly tuned, the model gets trapped and misclassifies the text as Spanish.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Overfitting:</a:t>
            </a:r>
            <a:r>
              <a:rPr lang="en">
                <a:solidFill>
                  <a:schemeClr val="dk1"/>
                </a:solidFill>
              </a:rPr>
              <a:t> Because a single Decision Tree has access to all 31 words at all times, it tends to memorize the training data rather than learn general patterns. It creates a hyper-specific, brittle set of rules that shatters when it encounters a tricky edge case in the real world.</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2. The Random Forest: The Power of the Crowd</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A Random Forest is an ensemble model; it literally builds a "forest" of hundreds of individual Decision Trees. However, it introduces a crucial element of chaos to prevent the rigidity we just talked about.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it is the best performing model:</a:t>
            </a:r>
            <a:r>
              <a:rPr lang="en">
                <a:solidFill>
                  <a:schemeClr val="dk1"/>
                </a:solidFill>
              </a:rPr>
              <a:t> The Random Forest succeeds because of two architectural concepts: </a:t>
            </a:r>
            <a:r>
              <a:rPr b="1" lang="en">
                <a:solidFill>
                  <a:schemeClr val="dk1"/>
                </a:solidFill>
              </a:rPr>
              <a:t>Bagging</a:t>
            </a:r>
            <a:r>
              <a:rPr lang="en">
                <a:solidFill>
                  <a:schemeClr val="dk1"/>
                </a:solidFill>
              </a:rPr>
              <a:t> (Bootstrap Aggregating) and </a:t>
            </a:r>
            <a:r>
              <a:rPr b="1" lang="en">
                <a:solidFill>
                  <a:schemeClr val="dk1"/>
                </a:solidFill>
              </a:rPr>
              <a:t>Feature Randomness</a:t>
            </a:r>
            <a:r>
              <a:rPr lang="e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Feature Randomness (The Secret Weapon):</a:t>
            </a:r>
            <a:r>
              <a:rPr lang="en">
                <a:solidFill>
                  <a:schemeClr val="dk1"/>
                </a:solidFill>
              </a:rPr>
              <a:t> When a normal Decision Tree makes a split, it looks at all 31 function words to find the best option. A Random Forest artificially restricts its trees. At every single split, each tree is only allowed to look at a random subset of your words (for example, maybe just 5 words at a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Forced Diversity:</a:t>
            </a:r>
            <a:r>
              <a:rPr lang="en">
                <a:solidFill>
                  <a:schemeClr val="dk1"/>
                </a:solidFill>
              </a:rPr>
              <a:t> Because of this restriction, many trees in the forest are </a:t>
            </a:r>
            <a:r>
              <a:rPr i="1" lang="en">
                <a:solidFill>
                  <a:schemeClr val="dk1"/>
                </a:solidFill>
              </a:rPr>
              <a:t>forced</a:t>
            </a:r>
            <a:r>
              <a:rPr lang="en">
                <a:solidFill>
                  <a:schemeClr val="dk1"/>
                </a:solidFill>
              </a:rPr>
              <a:t> to build their logic without ever seeing the heavy-hitter words like "un" or "en". They have to learn how to identify French or Spanish using the secondary, weaker function words.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 Majority Vote:</a:t>
            </a:r>
            <a:r>
              <a:rPr lang="en">
                <a:solidFill>
                  <a:schemeClr val="dk1"/>
                </a:solidFill>
              </a:rPr>
              <a:t> When it comes time to predict the language of a new sentence, all hundreds of these artificially restricted trees cast a vote. The model takes the majority.</a:t>
            </a:r>
            <a:endParaRPr>
              <a:solidFill>
                <a:schemeClr val="dk1"/>
              </a:solidFill>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5f35f43c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5f35f43c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Speaker: Noah</a:t>
            </a:r>
            <a:endParaRPr sz="1500">
              <a:latin typeface="Times New Roman"/>
              <a:ea typeface="Times New Roman"/>
              <a:cs typeface="Times New Roman"/>
              <a:sym typeface="Times New Roman"/>
            </a:endParaRPr>
          </a:p>
          <a:p>
            <a:pPr indent="0" lvl="0" marL="0" rtl="0" algn="l">
              <a:spcBef>
                <a:spcPts val="0"/>
              </a:spcBef>
              <a:spcAft>
                <a:spcPts val="0"/>
              </a:spcAft>
              <a:buNone/>
            </a:pPr>
            <a:r>
              <a:rPr lang="en" sz="1500">
                <a:latin typeface="Times New Roman"/>
                <a:ea typeface="Times New Roman"/>
                <a:cs typeface="Times New Roman"/>
                <a:sym typeface="Times New Roman"/>
              </a:rPr>
              <a:t>In conclusion, our pipeline proved that relying strictly on the frequency of 31 function words is a highly effective, computationally inexpensive way to perform language classification. However, there are limitations. Because our vocabulary is hardcoded, if a user inputs a sentence that only contains nouns and verbs without our specific function words, the model cannot classify it accurately. Furthermore, our regex filtering makes the pipeline incompatible with non-Latin scripts.</a:t>
            </a:r>
            <a:endParaRPr sz="1500">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5f35f43c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5f35f43c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23.png"/><Relationship Id="rId8"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7.png"/><Relationship Id="rId7" Type="http://schemas.openxmlformats.org/officeDocument/2006/relationships/image" Target="../media/image20.png"/><Relationship Id="rId8"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kaggle.com/datasets/zarajamshaid/language-identification-datasst" TargetMode="External"/><Relationship Id="rId4" Type="http://schemas.openxmlformats.org/officeDocument/2006/relationships/hyperlink" Target="https://matplotlib.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0" y="0"/>
            <a:ext cx="9144000" cy="14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Multi-Model Language Classification: Identifying Linguistic Fingerprints</a:t>
            </a:r>
            <a:endParaRPr sz="3000"/>
          </a:p>
        </p:txBody>
      </p:sp>
      <p:sp>
        <p:nvSpPr>
          <p:cNvPr id="87" name="Google Shape;87;p13"/>
          <p:cNvSpPr txBox="1"/>
          <p:nvPr>
            <p:ph idx="1" type="subTitle"/>
          </p:nvPr>
        </p:nvSpPr>
        <p:spPr>
          <a:xfrm>
            <a:off x="311700" y="1450800"/>
            <a:ext cx="8520600" cy="312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Group 9:</a:t>
            </a:r>
            <a:endParaRPr sz="3900"/>
          </a:p>
          <a:p>
            <a:pPr indent="0" lvl="0" marL="0" rtl="0" algn="l">
              <a:spcBef>
                <a:spcPts val="0"/>
              </a:spcBef>
              <a:spcAft>
                <a:spcPts val="0"/>
              </a:spcAft>
              <a:buNone/>
            </a:pPr>
            <a:r>
              <a:rPr lang="en" sz="3900"/>
              <a:t>Jesse Dinh, Noah Shin, and Huy Le</a:t>
            </a:r>
            <a:endParaRPr sz="3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we trying to solve?</a:t>
            </a:r>
            <a:endParaRPr/>
          </a:p>
        </p:txBody>
      </p:sp>
      <p:sp>
        <p:nvSpPr>
          <p:cNvPr id="93" name="Google Shape;93;p14"/>
          <p:cNvSpPr txBox="1"/>
          <p:nvPr>
            <p:ph idx="1" type="body"/>
          </p:nvPr>
        </p:nvSpPr>
        <p:spPr>
          <a:xfrm>
            <a:off x="729450" y="2078875"/>
            <a:ext cx="7688700" cy="2749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Our model aims to automatically classify an inputted text as one of three languages, english, spanish, or french. </a:t>
            </a:r>
            <a:endParaRPr sz="2200"/>
          </a:p>
          <a:p>
            <a:pPr indent="-368300" lvl="0" marL="457200" rtl="0" algn="l">
              <a:spcBef>
                <a:spcPts val="0"/>
              </a:spcBef>
              <a:spcAft>
                <a:spcPts val="0"/>
              </a:spcAft>
              <a:buSzPts val="2200"/>
              <a:buChar char="●"/>
            </a:pPr>
            <a:r>
              <a:rPr lang="en" sz="2200"/>
              <a:t>Detecting languages is important for translation systems in social media, chat bots, website, and more as they allow for seamless communication across people of different languages across the world.</a:t>
            </a:r>
            <a:endParaRPr sz="2200"/>
          </a:p>
          <a:p>
            <a:pPr indent="0" lvl="0" marL="457200" rtl="0" algn="l">
              <a:spcBef>
                <a:spcPts val="1200"/>
              </a:spcBef>
              <a:spcAft>
                <a:spcPts val="0"/>
              </a:spcAft>
              <a:buNone/>
            </a:pPr>
            <a:r>
              <a:t/>
            </a:r>
            <a:endParaRPr sz="2200"/>
          </a:p>
          <a:p>
            <a:pPr indent="0" lvl="0" marL="0" rtl="0" algn="l">
              <a:spcBef>
                <a:spcPts val="1200"/>
              </a:spcBef>
              <a:spcAft>
                <a:spcPts val="1200"/>
              </a:spcAft>
              <a:buNone/>
            </a:pPr>
            <a:r>
              <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&amp; Hypothesis</a:t>
            </a:r>
            <a:endParaRPr/>
          </a:p>
        </p:txBody>
      </p:sp>
      <p:sp>
        <p:nvSpPr>
          <p:cNvPr id="99" name="Google Shape;99;p15"/>
          <p:cNvSpPr txBox="1"/>
          <p:nvPr>
            <p:ph idx="1" type="body"/>
          </p:nvPr>
        </p:nvSpPr>
        <p:spPr>
          <a:xfrm>
            <a:off x="314900" y="2078875"/>
            <a:ext cx="4059000" cy="2627400"/>
          </a:xfrm>
          <a:prstGeom prst="rect">
            <a:avLst/>
          </a:prstGeom>
        </p:spPr>
        <p:txBody>
          <a:bodyPr anchorCtr="0" anchor="t" bIns="91425" lIns="91425" spcFirstLastPara="1" rIns="91425" wrap="square" tIns="91425">
            <a:normAutofit fontScale="92500" lnSpcReduction="10000"/>
          </a:bodyPr>
          <a:lstStyle/>
          <a:p>
            <a:pPr indent="-366633" lvl="0" marL="457200" rtl="0" algn="l">
              <a:spcBef>
                <a:spcPts val="0"/>
              </a:spcBef>
              <a:spcAft>
                <a:spcPts val="0"/>
              </a:spcAft>
              <a:buSzPct val="100000"/>
              <a:buChar char="●"/>
            </a:pPr>
            <a:r>
              <a:rPr lang="en" sz="2350"/>
              <a:t>Our project focuses on language detection and is thus a classification problem</a:t>
            </a:r>
            <a:endParaRPr sz="2350"/>
          </a:p>
          <a:p>
            <a:pPr indent="-366633" lvl="0" marL="457200" rtl="0" algn="l">
              <a:spcBef>
                <a:spcPts val="0"/>
              </a:spcBef>
              <a:spcAft>
                <a:spcPts val="0"/>
              </a:spcAft>
              <a:buSzPct val="100000"/>
              <a:buChar char="●"/>
            </a:pPr>
            <a:r>
              <a:rPr lang="en" sz="2350"/>
              <a:t>Text is converted into numerical vectors for features</a:t>
            </a:r>
            <a:endParaRPr sz="2350"/>
          </a:p>
          <a:p>
            <a:pPr indent="0" lvl="0" marL="457200" rtl="0" algn="l">
              <a:spcBef>
                <a:spcPts val="1200"/>
              </a:spcBef>
              <a:spcAft>
                <a:spcPts val="1200"/>
              </a:spcAft>
              <a:buNone/>
            </a:pPr>
            <a:r>
              <a:t/>
            </a:r>
            <a:endParaRPr/>
          </a:p>
        </p:txBody>
      </p:sp>
      <p:sp>
        <p:nvSpPr>
          <p:cNvPr id="100" name="Google Shape;100;p15"/>
          <p:cNvSpPr txBox="1"/>
          <p:nvPr>
            <p:ph idx="1" type="body"/>
          </p:nvPr>
        </p:nvSpPr>
        <p:spPr>
          <a:xfrm>
            <a:off x="4900000" y="2078875"/>
            <a:ext cx="3777600" cy="2627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We hypothesize that we can use patterns in the word frequency of each language to classify them</a:t>
            </a:r>
            <a:endParaRPr sz="2000"/>
          </a:p>
          <a:p>
            <a:pPr indent="-355600" lvl="0" marL="457200" rtl="0" algn="l">
              <a:spcBef>
                <a:spcPts val="0"/>
              </a:spcBef>
              <a:spcAft>
                <a:spcPts val="0"/>
              </a:spcAft>
              <a:buSzPts val="2000"/>
              <a:buChar char="●"/>
            </a:pPr>
            <a:r>
              <a:rPr lang="en" sz="2000"/>
              <a:t>Each language has its own “function words” that help differentiate them.</a:t>
            </a:r>
            <a:endParaRPr sz="2000"/>
          </a:p>
          <a:p>
            <a:pPr indent="0" lvl="0" marL="457200" rtl="0" algn="l">
              <a:spcBef>
                <a:spcPts val="1200"/>
              </a:spcBef>
              <a:spcAft>
                <a:spcPts val="120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p:nvPr/>
        </p:nvSpPr>
        <p:spPr>
          <a:xfrm>
            <a:off x="344900" y="764775"/>
            <a:ext cx="1379700" cy="71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6" name="Google Shape;106;p16"/>
          <p:cNvSpPr txBox="1"/>
          <p:nvPr>
            <p:ph type="title"/>
          </p:nvPr>
        </p:nvSpPr>
        <p:spPr>
          <a:xfrm>
            <a:off x="956900" y="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Dataset &amp; Preprocessing</a:t>
            </a:r>
            <a:endParaRPr/>
          </a:p>
          <a:p>
            <a:pPr indent="0" lvl="0" marL="0" rtl="0" algn="l">
              <a:spcBef>
                <a:spcPts val="0"/>
              </a:spcBef>
              <a:spcAft>
                <a:spcPts val="0"/>
              </a:spcAft>
              <a:buNone/>
            </a:pPr>
            <a:r>
              <a:t/>
            </a:r>
            <a:endParaRPr/>
          </a:p>
        </p:txBody>
      </p:sp>
      <p:sp>
        <p:nvSpPr>
          <p:cNvPr id="107" name="Google Shape;107;p16"/>
          <p:cNvSpPr txBox="1"/>
          <p:nvPr>
            <p:ph idx="1" type="body"/>
          </p:nvPr>
        </p:nvSpPr>
        <p:spPr>
          <a:xfrm>
            <a:off x="727650" y="679550"/>
            <a:ext cx="7688700" cy="226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English, French, and Spanish language data are pulled from a Kagglehub dataset</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We have 3946 English examples, 3701 French examples, and 3576 Spanish examples.</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Data is broken down into 15-word training examples</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Residual non-latin characters (i.e. symbols, emojis, or quotations from other languages) are filtered out using a regex</a:t>
            </a:r>
            <a:endParaRPr sz="1700">
              <a:latin typeface="Times New Roman"/>
              <a:ea typeface="Times New Roman"/>
              <a:cs typeface="Times New Roman"/>
              <a:sym typeface="Times New Roman"/>
            </a:endParaRPr>
          </a:p>
          <a:p>
            <a:pPr indent="0" lvl="0" marL="0" rtl="0" algn="l">
              <a:spcBef>
                <a:spcPts val="1200"/>
              </a:spcBef>
              <a:spcAft>
                <a:spcPts val="1200"/>
              </a:spcAft>
              <a:buNone/>
            </a:pPr>
            <a:r>
              <a:t/>
            </a:r>
            <a:endParaRPr sz="1700"/>
          </a:p>
        </p:txBody>
      </p:sp>
      <p:pic>
        <p:nvPicPr>
          <p:cNvPr id="108" name="Google Shape;108;p16" title="Screenshot 2026-04-15 at 12.47.05 PM.png"/>
          <p:cNvPicPr preferRelativeResize="0"/>
          <p:nvPr/>
        </p:nvPicPr>
        <p:blipFill>
          <a:blip r:embed="rId3">
            <a:alphaModFix/>
          </a:blip>
          <a:stretch>
            <a:fillRect/>
          </a:stretch>
        </p:blipFill>
        <p:spPr>
          <a:xfrm>
            <a:off x="178125" y="3085000"/>
            <a:ext cx="3610075" cy="1747901"/>
          </a:xfrm>
          <a:prstGeom prst="rect">
            <a:avLst/>
          </a:prstGeom>
          <a:noFill/>
          <a:ln>
            <a:noFill/>
          </a:ln>
        </p:spPr>
      </p:pic>
      <p:pic>
        <p:nvPicPr>
          <p:cNvPr id="109" name="Google Shape;109;p16" title="Screenshot 2026-04-15 at 12.52.01 PM.png"/>
          <p:cNvPicPr preferRelativeResize="0"/>
          <p:nvPr/>
        </p:nvPicPr>
        <p:blipFill>
          <a:blip r:embed="rId4">
            <a:alphaModFix/>
          </a:blip>
          <a:stretch>
            <a:fillRect/>
          </a:stretch>
        </p:blipFill>
        <p:spPr>
          <a:xfrm>
            <a:off x="4144500" y="4339975"/>
            <a:ext cx="4573950" cy="461375"/>
          </a:xfrm>
          <a:prstGeom prst="rect">
            <a:avLst/>
          </a:prstGeom>
          <a:noFill/>
          <a:ln>
            <a:noFill/>
          </a:ln>
        </p:spPr>
      </p:pic>
      <p:pic>
        <p:nvPicPr>
          <p:cNvPr id="110" name="Google Shape;110;p16" title="Screenshot 2026-04-15 at 12.53.32 PM.png"/>
          <p:cNvPicPr preferRelativeResize="0"/>
          <p:nvPr/>
        </p:nvPicPr>
        <p:blipFill>
          <a:blip r:embed="rId5">
            <a:alphaModFix/>
          </a:blip>
          <a:stretch>
            <a:fillRect/>
          </a:stretch>
        </p:blipFill>
        <p:spPr>
          <a:xfrm>
            <a:off x="4083650" y="3135075"/>
            <a:ext cx="4824826" cy="983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Feature Engineering &amp; Vectorization</a:t>
            </a:r>
            <a:endParaRPr/>
          </a:p>
        </p:txBody>
      </p:sp>
      <p:sp>
        <p:nvSpPr>
          <p:cNvPr id="116" name="Google Shape;116;p17"/>
          <p:cNvSpPr txBox="1"/>
          <p:nvPr>
            <p:ph idx="1" type="body"/>
          </p:nvPr>
        </p:nvSpPr>
        <p:spPr>
          <a:xfrm>
            <a:off x="94200" y="1287450"/>
            <a:ext cx="8991300" cy="3799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latin typeface="Times New Roman"/>
              <a:ea typeface="Times New Roman"/>
              <a:cs typeface="Times New Roman"/>
              <a:sym typeface="Times New Roman"/>
            </a:endParaRPr>
          </a:p>
        </p:txBody>
      </p:sp>
      <p:pic>
        <p:nvPicPr>
          <p:cNvPr id="117" name="Google Shape;117;p17"/>
          <p:cNvPicPr preferRelativeResize="0"/>
          <p:nvPr/>
        </p:nvPicPr>
        <p:blipFill>
          <a:blip r:embed="rId3">
            <a:alphaModFix/>
          </a:blip>
          <a:stretch>
            <a:fillRect/>
          </a:stretch>
        </p:blipFill>
        <p:spPr>
          <a:xfrm>
            <a:off x="2065425" y="2105625"/>
            <a:ext cx="4819650" cy="1504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Model Architectures</a:t>
            </a:r>
            <a:endParaRPr>
              <a:latin typeface="Times New Roman"/>
              <a:ea typeface="Times New Roman"/>
              <a:cs typeface="Times New Roman"/>
              <a:sym typeface="Times New Roman"/>
            </a:endParaRPr>
          </a:p>
        </p:txBody>
      </p:sp>
      <p:sp>
        <p:nvSpPr>
          <p:cNvPr id="123" name="Google Shape;123;p18"/>
          <p:cNvSpPr txBox="1"/>
          <p:nvPr>
            <p:ph idx="1" type="body"/>
          </p:nvPr>
        </p:nvSpPr>
        <p:spPr>
          <a:xfrm>
            <a:off x="0" y="573600"/>
            <a:ext cx="9144000" cy="456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300">
              <a:latin typeface="Times New Roman"/>
              <a:ea typeface="Times New Roman"/>
              <a:cs typeface="Times New Roman"/>
              <a:sym typeface="Times New Roman"/>
            </a:endParaRPr>
          </a:p>
          <a:p>
            <a:pPr indent="0" lvl="0" marL="0" rtl="0" algn="l">
              <a:spcBef>
                <a:spcPts val="1200"/>
              </a:spcBef>
              <a:spcAft>
                <a:spcPts val="0"/>
              </a:spcAft>
              <a:buNone/>
            </a:pPr>
            <a:r>
              <a:rPr lang="en" sz="2300">
                <a:latin typeface="Times New Roman"/>
                <a:ea typeface="Times New Roman"/>
                <a:cs typeface="Times New Roman"/>
                <a:sym typeface="Times New Roman"/>
              </a:rPr>
              <a:t>Decision Tree (Baseline): A simple classifier used as the starting point (max depth 30, 20% TEST SPLIT).</a:t>
            </a:r>
            <a:endParaRPr sz="2300">
              <a:latin typeface="Times New Roman"/>
              <a:ea typeface="Times New Roman"/>
              <a:cs typeface="Times New Roman"/>
              <a:sym typeface="Times New Roman"/>
            </a:endParaRPr>
          </a:p>
          <a:p>
            <a:pPr indent="0" lvl="0" marL="0" rtl="0" algn="l">
              <a:spcBef>
                <a:spcPts val="1200"/>
              </a:spcBef>
              <a:spcAft>
                <a:spcPts val="0"/>
              </a:spcAft>
              <a:buNone/>
            </a:pPr>
            <a:r>
              <a:rPr lang="en" sz="2300">
                <a:latin typeface="Times New Roman"/>
                <a:ea typeface="Times New Roman"/>
                <a:cs typeface="Times New Roman"/>
                <a:sym typeface="Times New Roman"/>
              </a:rPr>
              <a:t>Random Forest (Ensemble): Uses majority voting across multiple trees to prevent overfitting; proved most effective.</a:t>
            </a:r>
            <a:endParaRPr sz="2300">
              <a:latin typeface="Times New Roman"/>
              <a:ea typeface="Times New Roman"/>
              <a:cs typeface="Times New Roman"/>
              <a:sym typeface="Times New Roman"/>
            </a:endParaRPr>
          </a:p>
          <a:p>
            <a:pPr indent="0" lvl="0" marL="0" rtl="0" algn="l">
              <a:spcBef>
                <a:spcPts val="1200"/>
              </a:spcBef>
              <a:spcAft>
                <a:spcPts val="1200"/>
              </a:spcAft>
              <a:buNone/>
            </a:pPr>
            <a:r>
              <a:rPr lang="en" sz="2300">
                <a:latin typeface="Times New Roman"/>
                <a:ea typeface="Times New Roman"/>
                <a:cs typeface="Times New Roman"/>
                <a:sym typeface="Times New Roman"/>
              </a:rPr>
              <a:t>Multi-Layer Perceptron (Neural Network): Utilized to capture complex non-linear relationships between function words.</a:t>
            </a:r>
            <a:endParaRPr sz="23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Hyperparameter Tuning</a:t>
            </a:r>
            <a:endParaRPr>
              <a:latin typeface="Times New Roman"/>
              <a:ea typeface="Times New Roman"/>
              <a:cs typeface="Times New Roman"/>
              <a:sym typeface="Times New Roman"/>
            </a:endParaRPr>
          </a:p>
        </p:txBody>
      </p:sp>
      <p:sp>
        <p:nvSpPr>
          <p:cNvPr id="129" name="Google Shape;129;p19"/>
          <p:cNvSpPr txBox="1"/>
          <p:nvPr>
            <p:ph idx="1" type="body"/>
          </p:nvPr>
        </p:nvSpPr>
        <p:spPr>
          <a:xfrm>
            <a:off x="0" y="572700"/>
            <a:ext cx="9144000" cy="457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50">
                <a:solidFill>
                  <a:srgbClr val="1F1F1F"/>
                </a:solidFill>
                <a:highlight>
                  <a:srgbClr val="FFFFFF"/>
                </a:highlight>
                <a:latin typeface="Roboto"/>
                <a:ea typeface="Roboto"/>
                <a:cs typeface="Roboto"/>
                <a:sym typeface="Roboto"/>
              </a:rPr>
              <a:t>K-Fold Cross Validation</a:t>
            </a:r>
            <a:endParaRPr b="1" sz="1350">
              <a:solidFill>
                <a:srgbClr val="1F1F1F"/>
              </a:solidFill>
              <a:highlight>
                <a:srgbClr val="FFFFFF"/>
              </a:highlight>
              <a:latin typeface="Roboto"/>
              <a:ea typeface="Roboto"/>
              <a:cs typeface="Roboto"/>
              <a:sym typeface="Roboto"/>
            </a:endParaRPr>
          </a:p>
          <a:p>
            <a:pPr indent="-314325" lvl="0" marL="457200" rtl="0" algn="l">
              <a:spcBef>
                <a:spcPts val="1200"/>
              </a:spcBef>
              <a:spcAft>
                <a:spcPts val="0"/>
              </a:spcAft>
              <a:buClr>
                <a:srgbClr val="1F1F1F"/>
              </a:buClr>
              <a:buSzPts val="1350"/>
              <a:buFont typeface="Roboto"/>
              <a:buChar char="●"/>
            </a:pPr>
            <a:r>
              <a:rPr lang="en" sz="1350">
                <a:solidFill>
                  <a:srgbClr val="1F1F1F"/>
                </a:solidFill>
                <a:highlight>
                  <a:srgbClr val="FFFFFF"/>
                </a:highlight>
                <a:latin typeface="Roboto"/>
                <a:ea typeface="Roboto"/>
                <a:cs typeface="Roboto"/>
                <a:sym typeface="Roboto"/>
              </a:rPr>
              <a:t>Splits the training data into K equal subsets (folds).</a:t>
            </a:r>
            <a:endParaRPr sz="1000">
              <a:solidFill>
                <a:srgbClr val="1F1F1F"/>
              </a:solidFill>
              <a:highlight>
                <a:srgbClr val="F0F4F9"/>
              </a:highlight>
              <a:latin typeface="Roboto"/>
              <a:ea typeface="Roboto"/>
              <a:cs typeface="Roboto"/>
              <a:sym typeface="Roboto"/>
            </a:endParaRPr>
          </a:p>
          <a:p>
            <a:pPr indent="-314325" lvl="0" marL="457200" rtl="0" algn="l">
              <a:spcBef>
                <a:spcPts val="0"/>
              </a:spcBef>
              <a:spcAft>
                <a:spcPts val="0"/>
              </a:spcAft>
              <a:buClr>
                <a:srgbClr val="1F1F1F"/>
              </a:buClr>
              <a:buSzPts val="1350"/>
              <a:buFont typeface="Roboto"/>
              <a:buChar char="●"/>
            </a:pPr>
            <a:r>
              <a:rPr lang="en" sz="1350">
                <a:solidFill>
                  <a:srgbClr val="1F1F1F"/>
                </a:solidFill>
                <a:highlight>
                  <a:srgbClr val="FFFFFF"/>
                </a:highlight>
                <a:latin typeface="Roboto"/>
                <a:ea typeface="Roboto"/>
                <a:cs typeface="Roboto"/>
                <a:sym typeface="Roboto"/>
              </a:rPr>
              <a:t>Rotates each fold once for testing, training on the other K-1 folds.</a:t>
            </a:r>
            <a:endParaRPr sz="1000">
              <a:solidFill>
                <a:srgbClr val="1F1F1F"/>
              </a:solidFill>
              <a:highlight>
                <a:srgbClr val="F0F4F9"/>
              </a:highlight>
              <a:latin typeface="Roboto"/>
              <a:ea typeface="Roboto"/>
              <a:cs typeface="Roboto"/>
              <a:sym typeface="Roboto"/>
            </a:endParaRPr>
          </a:p>
          <a:p>
            <a:pPr indent="-314325" lvl="0" marL="457200" rtl="0" algn="l">
              <a:spcBef>
                <a:spcPts val="0"/>
              </a:spcBef>
              <a:spcAft>
                <a:spcPts val="0"/>
              </a:spcAft>
              <a:buClr>
                <a:srgbClr val="1F1F1F"/>
              </a:buClr>
              <a:buSzPts val="1350"/>
              <a:buFont typeface="Roboto"/>
              <a:buChar char="●"/>
            </a:pPr>
            <a:r>
              <a:rPr lang="en" sz="1350">
                <a:solidFill>
                  <a:srgbClr val="1F1F1F"/>
                </a:solidFill>
                <a:highlight>
                  <a:srgbClr val="FFFFFF"/>
                </a:highlight>
                <a:latin typeface="Roboto"/>
                <a:ea typeface="Roboto"/>
                <a:cs typeface="Roboto"/>
                <a:sym typeface="Roboto"/>
              </a:rPr>
              <a:t>Calculates the average accuracy across all K runs (we used 5-fold).</a:t>
            </a:r>
            <a:endParaRPr sz="1000">
              <a:solidFill>
                <a:srgbClr val="1F1F1F"/>
              </a:solidFill>
              <a:highlight>
                <a:srgbClr val="F0F4F9"/>
              </a:highlight>
              <a:latin typeface="Roboto"/>
              <a:ea typeface="Roboto"/>
              <a:cs typeface="Roboto"/>
              <a:sym typeface="Roboto"/>
            </a:endParaRPr>
          </a:p>
          <a:p>
            <a:pPr indent="0" lvl="0" marL="0" rtl="0" algn="l">
              <a:spcBef>
                <a:spcPts val="1200"/>
              </a:spcBef>
              <a:spcAft>
                <a:spcPts val="0"/>
              </a:spcAft>
              <a:buNone/>
            </a:pPr>
            <a:r>
              <a:rPr b="1" lang="en" sz="1350">
                <a:solidFill>
                  <a:srgbClr val="1F1F1F"/>
                </a:solidFill>
                <a:highlight>
                  <a:srgbClr val="FFFFFF"/>
                </a:highlight>
                <a:latin typeface="Roboto"/>
                <a:ea typeface="Roboto"/>
                <a:cs typeface="Roboto"/>
                <a:sym typeface="Roboto"/>
              </a:rPr>
              <a:t>GridSearch CV</a:t>
            </a:r>
            <a:endParaRPr b="1" sz="1350">
              <a:solidFill>
                <a:srgbClr val="1F1F1F"/>
              </a:solidFill>
              <a:highlight>
                <a:srgbClr val="FFFFFF"/>
              </a:highlight>
              <a:latin typeface="Roboto"/>
              <a:ea typeface="Roboto"/>
              <a:cs typeface="Roboto"/>
              <a:sym typeface="Roboto"/>
            </a:endParaRPr>
          </a:p>
          <a:p>
            <a:pPr indent="-314325" lvl="0" marL="457200" rtl="0" algn="l">
              <a:spcBef>
                <a:spcPts val="1200"/>
              </a:spcBef>
              <a:spcAft>
                <a:spcPts val="0"/>
              </a:spcAft>
              <a:buClr>
                <a:srgbClr val="1F1F1F"/>
              </a:buClr>
              <a:buSzPts val="1350"/>
              <a:buFont typeface="Roboto"/>
              <a:buChar char="●"/>
            </a:pPr>
            <a:r>
              <a:rPr lang="en" sz="1350">
                <a:solidFill>
                  <a:srgbClr val="1F1F1F"/>
                </a:solidFill>
                <a:highlight>
                  <a:srgbClr val="FFFFFF"/>
                </a:highlight>
                <a:latin typeface="Roboto"/>
                <a:ea typeface="Roboto"/>
                <a:cs typeface="Roboto"/>
                <a:sym typeface="Roboto"/>
              </a:rPr>
              <a:t>Systematically tests every possible combination of hyperparameters.</a:t>
            </a:r>
            <a:endParaRPr sz="1000">
              <a:solidFill>
                <a:srgbClr val="1F1F1F"/>
              </a:solidFill>
              <a:highlight>
                <a:srgbClr val="F0F4F9"/>
              </a:highlight>
              <a:latin typeface="Roboto"/>
              <a:ea typeface="Roboto"/>
              <a:cs typeface="Roboto"/>
              <a:sym typeface="Roboto"/>
            </a:endParaRPr>
          </a:p>
          <a:p>
            <a:pPr indent="-314325" lvl="0" marL="457200" rtl="0" algn="l">
              <a:spcBef>
                <a:spcPts val="0"/>
              </a:spcBef>
              <a:spcAft>
                <a:spcPts val="0"/>
              </a:spcAft>
              <a:buClr>
                <a:srgbClr val="1F1F1F"/>
              </a:buClr>
              <a:buSzPts val="1350"/>
              <a:buFont typeface="Roboto"/>
              <a:buChar char="●"/>
            </a:pPr>
            <a:r>
              <a:rPr lang="en" sz="1350">
                <a:solidFill>
                  <a:srgbClr val="1F1F1F"/>
                </a:solidFill>
                <a:highlight>
                  <a:srgbClr val="FFFFFF"/>
                </a:highlight>
                <a:latin typeface="Roboto"/>
                <a:ea typeface="Roboto"/>
                <a:cs typeface="Roboto"/>
                <a:sym typeface="Roboto"/>
              </a:rPr>
              <a:t>Combines the exhaustive search with K-Fold CV for robust evaluation.</a:t>
            </a:r>
            <a:endParaRPr sz="1350">
              <a:solidFill>
                <a:srgbClr val="1F1F1F"/>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latin typeface="Times New Roman"/>
              <a:ea typeface="Times New Roman"/>
              <a:cs typeface="Times New Roman"/>
              <a:sym typeface="Times New Roman"/>
            </a:endParaRPr>
          </a:p>
        </p:txBody>
      </p:sp>
      <p:pic>
        <p:nvPicPr>
          <p:cNvPr id="130" name="Google Shape;130;p19"/>
          <p:cNvPicPr preferRelativeResize="0"/>
          <p:nvPr/>
        </p:nvPicPr>
        <p:blipFill>
          <a:blip r:embed="rId3">
            <a:alphaModFix/>
          </a:blip>
          <a:stretch>
            <a:fillRect/>
          </a:stretch>
        </p:blipFill>
        <p:spPr>
          <a:xfrm>
            <a:off x="0" y="2922425"/>
            <a:ext cx="6192075" cy="2221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0" y="0"/>
            <a:ext cx="91440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Gridsearch’s resulting hyperparameters for each model</a:t>
            </a:r>
            <a:endParaRPr/>
          </a:p>
        </p:txBody>
      </p:sp>
      <p:pic>
        <p:nvPicPr>
          <p:cNvPr id="136" name="Google Shape;136;p20"/>
          <p:cNvPicPr preferRelativeResize="0"/>
          <p:nvPr/>
        </p:nvPicPr>
        <p:blipFill>
          <a:blip r:embed="rId3">
            <a:alphaModFix/>
          </a:blip>
          <a:stretch>
            <a:fillRect/>
          </a:stretch>
        </p:blipFill>
        <p:spPr>
          <a:xfrm>
            <a:off x="2148549" y="535200"/>
            <a:ext cx="4940325" cy="4608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729450" y="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Performance</a:t>
            </a:r>
            <a:endParaRPr/>
          </a:p>
        </p:txBody>
      </p:sp>
      <p:sp>
        <p:nvSpPr>
          <p:cNvPr id="142" name="Google Shape;142;p21"/>
          <p:cNvSpPr txBox="1"/>
          <p:nvPr>
            <p:ph idx="1" type="body"/>
          </p:nvPr>
        </p:nvSpPr>
        <p:spPr>
          <a:xfrm>
            <a:off x="729450" y="3857625"/>
            <a:ext cx="7688700" cy="73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Training Accuracy:  0.9546					      Test Accuracy: 0.9519</a:t>
            </a:r>
            <a:endParaRPr/>
          </a:p>
        </p:txBody>
      </p:sp>
      <p:pic>
        <p:nvPicPr>
          <p:cNvPr id="143" name="Google Shape;143;p21" title="Decision_Tree_Training_Bar.png"/>
          <p:cNvPicPr preferRelativeResize="0"/>
          <p:nvPr/>
        </p:nvPicPr>
        <p:blipFill>
          <a:blip r:embed="rId3">
            <a:alphaModFix/>
          </a:blip>
          <a:stretch>
            <a:fillRect/>
          </a:stretch>
        </p:blipFill>
        <p:spPr>
          <a:xfrm>
            <a:off x="146075" y="472800"/>
            <a:ext cx="4427726" cy="3320798"/>
          </a:xfrm>
          <a:prstGeom prst="rect">
            <a:avLst/>
          </a:prstGeom>
          <a:noFill/>
          <a:ln>
            <a:noFill/>
          </a:ln>
        </p:spPr>
      </p:pic>
      <p:pic>
        <p:nvPicPr>
          <p:cNvPr id="144" name="Google Shape;144;p21" title="Decision_Tree_Test_Bar.png"/>
          <p:cNvPicPr preferRelativeResize="0"/>
          <p:nvPr/>
        </p:nvPicPr>
        <p:blipFill>
          <a:blip r:embed="rId4">
            <a:alphaModFix/>
          </a:blip>
          <a:stretch>
            <a:fillRect/>
          </a:stretch>
        </p:blipFill>
        <p:spPr>
          <a:xfrm>
            <a:off x="4573800" y="472813"/>
            <a:ext cx="4427726" cy="33207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729450" y="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Performance (contd.)</a:t>
            </a:r>
            <a:endParaRPr/>
          </a:p>
        </p:txBody>
      </p:sp>
      <p:sp>
        <p:nvSpPr>
          <p:cNvPr id="150" name="Google Shape;150;p22"/>
          <p:cNvSpPr txBox="1"/>
          <p:nvPr>
            <p:ph idx="1" type="body"/>
          </p:nvPr>
        </p:nvSpPr>
        <p:spPr>
          <a:xfrm>
            <a:off x="729450" y="3982475"/>
            <a:ext cx="7688700" cy="649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Training Accuracy:  0.9522 					        Test Accuracy: 0.9572</a:t>
            </a:r>
            <a:endParaRPr/>
          </a:p>
        </p:txBody>
      </p:sp>
      <p:pic>
        <p:nvPicPr>
          <p:cNvPr id="151" name="Google Shape;151;p22" title="Random_Forest_Test_Bar.png"/>
          <p:cNvPicPr preferRelativeResize="0"/>
          <p:nvPr/>
        </p:nvPicPr>
        <p:blipFill>
          <a:blip r:embed="rId3">
            <a:alphaModFix/>
          </a:blip>
          <a:stretch>
            <a:fillRect/>
          </a:stretch>
        </p:blipFill>
        <p:spPr>
          <a:xfrm>
            <a:off x="4572001" y="535200"/>
            <a:ext cx="4466131" cy="3349588"/>
          </a:xfrm>
          <a:prstGeom prst="rect">
            <a:avLst/>
          </a:prstGeom>
          <a:noFill/>
          <a:ln>
            <a:noFill/>
          </a:ln>
        </p:spPr>
      </p:pic>
      <p:pic>
        <p:nvPicPr>
          <p:cNvPr id="152" name="Google Shape;152;p22" title="Random_Forest_Training_Bar.png"/>
          <p:cNvPicPr preferRelativeResize="0"/>
          <p:nvPr/>
        </p:nvPicPr>
        <p:blipFill>
          <a:blip r:embed="rId4">
            <a:alphaModFix/>
          </a:blip>
          <a:stretch>
            <a:fillRect/>
          </a:stretch>
        </p:blipFill>
        <p:spPr>
          <a:xfrm>
            <a:off x="105863" y="535200"/>
            <a:ext cx="4466131" cy="33495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729450" y="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Performance (contd.)</a:t>
            </a:r>
            <a:endParaRPr/>
          </a:p>
        </p:txBody>
      </p:sp>
      <p:sp>
        <p:nvSpPr>
          <p:cNvPr id="158" name="Google Shape;158;p23"/>
          <p:cNvSpPr txBox="1"/>
          <p:nvPr>
            <p:ph idx="1" type="body"/>
          </p:nvPr>
        </p:nvSpPr>
        <p:spPr>
          <a:xfrm>
            <a:off x="729450" y="3895925"/>
            <a:ext cx="7688700" cy="77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Training Accuracy: 0.9539 					      Test Accuracy: 0.9559</a:t>
            </a:r>
            <a:endParaRPr/>
          </a:p>
        </p:txBody>
      </p:sp>
      <p:pic>
        <p:nvPicPr>
          <p:cNvPr id="159" name="Google Shape;159;p23" title="Neural_Network_Test_Bar.png"/>
          <p:cNvPicPr preferRelativeResize="0"/>
          <p:nvPr/>
        </p:nvPicPr>
        <p:blipFill>
          <a:blip r:embed="rId3">
            <a:alphaModFix/>
          </a:blip>
          <a:stretch>
            <a:fillRect/>
          </a:stretch>
        </p:blipFill>
        <p:spPr>
          <a:xfrm>
            <a:off x="4571993" y="535200"/>
            <a:ext cx="4480982" cy="3360726"/>
          </a:xfrm>
          <a:prstGeom prst="rect">
            <a:avLst/>
          </a:prstGeom>
          <a:noFill/>
          <a:ln>
            <a:noFill/>
          </a:ln>
        </p:spPr>
      </p:pic>
      <p:pic>
        <p:nvPicPr>
          <p:cNvPr id="160" name="Google Shape;160;p23" title="Neural_Network_Training_Bar.png"/>
          <p:cNvPicPr preferRelativeResize="0"/>
          <p:nvPr/>
        </p:nvPicPr>
        <p:blipFill>
          <a:blip r:embed="rId4">
            <a:alphaModFix/>
          </a:blip>
          <a:stretch>
            <a:fillRect/>
          </a:stretch>
        </p:blipFill>
        <p:spPr>
          <a:xfrm>
            <a:off x="91025" y="535200"/>
            <a:ext cx="4480968" cy="3360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4"/>
          <p:cNvSpPr txBox="1"/>
          <p:nvPr>
            <p:ph type="title"/>
          </p:nvPr>
        </p:nvSpPr>
        <p:spPr>
          <a:xfrm>
            <a:off x="0" y="0"/>
            <a:ext cx="91440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Training Loss and Accuracy Curves</a:t>
            </a:r>
            <a:endParaRPr/>
          </a:p>
        </p:txBody>
      </p:sp>
      <p:sp>
        <p:nvSpPr>
          <p:cNvPr id="166" name="Google Shape;166;p24"/>
          <p:cNvSpPr txBox="1"/>
          <p:nvPr>
            <p:ph idx="1" type="body"/>
          </p:nvPr>
        </p:nvSpPr>
        <p:spPr>
          <a:xfrm>
            <a:off x="0" y="535200"/>
            <a:ext cx="9144000" cy="460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24" title="Random_Forest_Learning_Curve.png"/>
          <p:cNvPicPr preferRelativeResize="0"/>
          <p:nvPr/>
        </p:nvPicPr>
        <p:blipFill>
          <a:blip r:embed="rId3">
            <a:alphaModFix/>
          </a:blip>
          <a:stretch>
            <a:fillRect/>
          </a:stretch>
        </p:blipFill>
        <p:spPr>
          <a:xfrm>
            <a:off x="2543500" y="535200"/>
            <a:ext cx="3175450" cy="3463726"/>
          </a:xfrm>
          <a:prstGeom prst="rect">
            <a:avLst/>
          </a:prstGeom>
          <a:noFill/>
          <a:ln>
            <a:noFill/>
          </a:ln>
        </p:spPr>
      </p:pic>
      <p:pic>
        <p:nvPicPr>
          <p:cNvPr id="168" name="Google Shape;168;p24" title="Decision_Tree_Learning_Curve.png"/>
          <p:cNvPicPr preferRelativeResize="0"/>
          <p:nvPr/>
        </p:nvPicPr>
        <p:blipFill>
          <a:blip r:embed="rId4">
            <a:alphaModFix/>
          </a:blip>
          <a:stretch>
            <a:fillRect/>
          </a:stretch>
        </p:blipFill>
        <p:spPr>
          <a:xfrm>
            <a:off x="0" y="535200"/>
            <a:ext cx="2543498" cy="3307849"/>
          </a:xfrm>
          <a:prstGeom prst="rect">
            <a:avLst/>
          </a:prstGeom>
          <a:noFill/>
          <a:ln>
            <a:noFill/>
          </a:ln>
        </p:spPr>
      </p:pic>
      <p:pic>
        <p:nvPicPr>
          <p:cNvPr id="169" name="Google Shape;169;p24" title="Neural_Network_Loss_Curve.png"/>
          <p:cNvPicPr preferRelativeResize="0"/>
          <p:nvPr/>
        </p:nvPicPr>
        <p:blipFill>
          <a:blip r:embed="rId5">
            <a:alphaModFix/>
          </a:blip>
          <a:stretch>
            <a:fillRect/>
          </a:stretch>
        </p:blipFill>
        <p:spPr>
          <a:xfrm>
            <a:off x="5718950" y="535200"/>
            <a:ext cx="3425050" cy="3082199"/>
          </a:xfrm>
          <a:prstGeom prst="rect">
            <a:avLst/>
          </a:prstGeom>
          <a:noFill/>
          <a:ln>
            <a:noFill/>
          </a:ln>
        </p:spPr>
      </p:pic>
      <p:sp>
        <p:nvSpPr>
          <p:cNvPr id="170" name="Google Shape;170;p24"/>
          <p:cNvSpPr txBox="1"/>
          <p:nvPr/>
        </p:nvSpPr>
        <p:spPr>
          <a:xfrm>
            <a:off x="42400" y="3843050"/>
            <a:ext cx="9101700" cy="1300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MLP  is trained up to 500 epochs. However, they rarely reach it since Scikit-Learn has a built-in feature called tolerance for optimization (early stopping).</a:t>
            </a:r>
            <a:endParaRPr sz="1600">
              <a:solidFill>
                <a:schemeClr val="accent1"/>
              </a:solidFill>
              <a:latin typeface="Lato"/>
              <a:ea typeface="Lato"/>
              <a:cs typeface="Lato"/>
              <a:sym typeface="Lato"/>
            </a:endParaRPr>
          </a:p>
          <a:p>
            <a:pPr indent="-330200" lvl="0" marL="457200" rtl="0" algn="l">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Decision Trees and Random Forests are grown mathematically rather than trained iteratively over time, so standard epoch isn’t applicable.</a:t>
            </a:r>
            <a:endParaRPr sz="16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The English Success</a:t>
            </a:r>
            <a:endParaRPr>
              <a:latin typeface="Times New Roman"/>
              <a:ea typeface="Times New Roman"/>
              <a:cs typeface="Times New Roman"/>
              <a:sym typeface="Times New Roman"/>
            </a:endParaRPr>
          </a:p>
        </p:txBody>
      </p:sp>
      <p:sp>
        <p:nvSpPr>
          <p:cNvPr id="176" name="Google Shape;176;p25"/>
          <p:cNvSpPr txBox="1"/>
          <p:nvPr>
            <p:ph idx="1" type="body"/>
          </p:nvPr>
        </p:nvSpPr>
        <p:spPr>
          <a:xfrm>
            <a:off x="282600" y="1292975"/>
            <a:ext cx="4197300" cy="37347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Times New Roman"/>
              <a:buChar char="●"/>
            </a:pPr>
            <a:r>
              <a:rPr lang="en" sz="2000">
                <a:latin typeface="Times New Roman"/>
                <a:ea typeface="Times New Roman"/>
                <a:cs typeface="Times New Roman"/>
                <a:sym typeface="Times New Roman"/>
              </a:rPr>
              <a:t>As shown in the confusion matrices, our models performed quite well when evaluating english text.</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 sz="2000">
                <a:latin typeface="Times New Roman"/>
                <a:ea typeface="Times New Roman"/>
                <a:cs typeface="Times New Roman"/>
                <a:sym typeface="Times New Roman"/>
              </a:rPr>
              <a:t>The english language’s feature words are more uniquely identifiable, especially since spanish and french are quite similar in structure and share many words</a:t>
            </a:r>
            <a:endParaRPr sz="2000">
              <a:latin typeface="Times New Roman"/>
              <a:ea typeface="Times New Roman"/>
              <a:cs typeface="Times New Roman"/>
              <a:sym typeface="Times New Roman"/>
            </a:endParaRPr>
          </a:p>
        </p:txBody>
      </p:sp>
      <p:pic>
        <p:nvPicPr>
          <p:cNvPr id="177" name="Google Shape;177;p25"/>
          <p:cNvPicPr preferRelativeResize="0"/>
          <p:nvPr/>
        </p:nvPicPr>
        <p:blipFill>
          <a:blip r:embed="rId3">
            <a:alphaModFix/>
          </a:blip>
          <a:stretch>
            <a:fillRect/>
          </a:stretch>
        </p:blipFill>
        <p:spPr>
          <a:xfrm>
            <a:off x="4715700" y="3573975"/>
            <a:ext cx="3955950" cy="1140975"/>
          </a:xfrm>
          <a:prstGeom prst="rect">
            <a:avLst/>
          </a:prstGeom>
          <a:noFill/>
          <a:ln>
            <a:noFill/>
          </a:ln>
        </p:spPr>
      </p:pic>
      <p:pic>
        <p:nvPicPr>
          <p:cNvPr id="178" name="Google Shape;178;p25"/>
          <p:cNvPicPr preferRelativeResize="0"/>
          <p:nvPr/>
        </p:nvPicPr>
        <p:blipFill>
          <a:blip r:embed="rId4">
            <a:alphaModFix/>
          </a:blip>
          <a:stretch>
            <a:fillRect/>
          </a:stretch>
        </p:blipFill>
        <p:spPr>
          <a:xfrm>
            <a:off x="5561050" y="3338625"/>
            <a:ext cx="2145926" cy="235725"/>
          </a:xfrm>
          <a:prstGeom prst="rect">
            <a:avLst/>
          </a:prstGeom>
          <a:noFill/>
          <a:ln>
            <a:noFill/>
          </a:ln>
        </p:spPr>
      </p:pic>
      <p:pic>
        <p:nvPicPr>
          <p:cNvPr id="179" name="Google Shape;179;p25"/>
          <p:cNvPicPr preferRelativeResize="0"/>
          <p:nvPr/>
        </p:nvPicPr>
        <p:blipFill>
          <a:blip r:embed="rId5">
            <a:alphaModFix/>
          </a:blip>
          <a:stretch>
            <a:fillRect/>
          </a:stretch>
        </p:blipFill>
        <p:spPr>
          <a:xfrm>
            <a:off x="4715689" y="2470469"/>
            <a:ext cx="3836626" cy="838443"/>
          </a:xfrm>
          <a:prstGeom prst="rect">
            <a:avLst/>
          </a:prstGeom>
          <a:noFill/>
          <a:ln>
            <a:noFill/>
          </a:ln>
        </p:spPr>
      </p:pic>
      <p:pic>
        <p:nvPicPr>
          <p:cNvPr id="180" name="Google Shape;180;p25"/>
          <p:cNvPicPr preferRelativeResize="0"/>
          <p:nvPr/>
        </p:nvPicPr>
        <p:blipFill>
          <a:blip r:embed="rId6">
            <a:alphaModFix/>
          </a:blip>
          <a:stretch>
            <a:fillRect/>
          </a:stretch>
        </p:blipFill>
        <p:spPr>
          <a:xfrm>
            <a:off x="5453086" y="2276275"/>
            <a:ext cx="2481174" cy="164475"/>
          </a:xfrm>
          <a:prstGeom prst="rect">
            <a:avLst/>
          </a:prstGeom>
          <a:noFill/>
          <a:ln>
            <a:noFill/>
          </a:ln>
        </p:spPr>
      </p:pic>
      <p:pic>
        <p:nvPicPr>
          <p:cNvPr id="181" name="Google Shape;181;p25"/>
          <p:cNvPicPr preferRelativeResize="0"/>
          <p:nvPr/>
        </p:nvPicPr>
        <p:blipFill>
          <a:blip r:embed="rId7">
            <a:alphaModFix/>
          </a:blip>
          <a:stretch>
            <a:fillRect/>
          </a:stretch>
        </p:blipFill>
        <p:spPr>
          <a:xfrm>
            <a:off x="4752740" y="1408100"/>
            <a:ext cx="3881873" cy="838450"/>
          </a:xfrm>
          <a:prstGeom prst="rect">
            <a:avLst/>
          </a:prstGeom>
          <a:noFill/>
          <a:ln>
            <a:noFill/>
          </a:ln>
        </p:spPr>
      </p:pic>
      <p:pic>
        <p:nvPicPr>
          <p:cNvPr id="182" name="Google Shape;182;p25"/>
          <p:cNvPicPr preferRelativeResize="0"/>
          <p:nvPr/>
        </p:nvPicPr>
        <p:blipFill>
          <a:blip r:embed="rId8">
            <a:alphaModFix/>
          </a:blip>
          <a:stretch>
            <a:fillRect/>
          </a:stretch>
        </p:blipFill>
        <p:spPr>
          <a:xfrm>
            <a:off x="5307125" y="1213900"/>
            <a:ext cx="2773125" cy="164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The Romance Language Collision</a:t>
            </a:r>
            <a:endParaRPr>
              <a:latin typeface="Times New Roman"/>
              <a:ea typeface="Times New Roman"/>
              <a:cs typeface="Times New Roman"/>
              <a:sym typeface="Times New Roman"/>
            </a:endParaRPr>
          </a:p>
        </p:txBody>
      </p:sp>
      <p:sp>
        <p:nvSpPr>
          <p:cNvPr id="188" name="Google Shape;188;p26"/>
          <p:cNvSpPr txBox="1"/>
          <p:nvPr>
            <p:ph idx="1" type="body"/>
          </p:nvPr>
        </p:nvSpPr>
        <p:spPr>
          <a:xfrm>
            <a:off x="360425" y="1319200"/>
            <a:ext cx="8588100" cy="628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Our models did relatively well when predicting between Spanish and French </a:t>
            </a:r>
            <a:r>
              <a:rPr lang="en">
                <a:latin typeface="Times New Roman"/>
                <a:ea typeface="Times New Roman"/>
                <a:cs typeface="Times New Roman"/>
                <a:sym typeface="Times New Roman"/>
              </a:rPr>
              <a:t>considering</a:t>
            </a:r>
            <a:r>
              <a:rPr lang="en">
                <a:latin typeface="Times New Roman"/>
                <a:ea typeface="Times New Roman"/>
                <a:cs typeface="Times New Roman"/>
                <a:sym typeface="Times New Roman"/>
              </a:rPr>
              <a:t> the similarity between their function words. The best performing model by a small margin would be the Random Forest.</a:t>
            </a:r>
            <a:endParaRPr>
              <a:latin typeface="Times New Roman"/>
              <a:ea typeface="Times New Roman"/>
              <a:cs typeface="Times New Roman"/>
              <a:sym typeface="Times New Roman"/>
            </a:endParaRPr>
          </a:p>
        </p:txBody>
      </p:sp>
      <p:pic>
        <p:nvPicPr>
          <p:cNvPr id="189" name="Google Shape;189;p26"/>
          <p:cNvPicPr preferRelativeResize="0"/>
          <p:nvPr/>
        </p:nvPicPr>
        <p:blipFill>
          <a:blip r:embed="rId3">
            <a:alphaModFix/>
          </a:blip>
          <a:stretch>
            <a:fillRect/>
          </a:stretch>
        </p:blipFill>
        <p:spPr>
          <a:xfrm>
            <a:off x="360425" y="2693899"/>
            <a:ext cx="2965600" cy="2000826"/>
          </a:xfrm>
          <a:prstGeom prst="rect">
            <a:avLst/>
          </a:prstGeom>
          <a:noFill/>
          <a:ln>
            <a:noFill/>
          </a:ln>
        </p:spPr>
      </p:pic>
      <p:pic>
        <p:nvPicPr>
          <p:cNvPr id="190" name="Google Shape;190;p26"/>
          <p:cNvPicPr preferRelativeResize="0"/>
          <p:nvPr/>
        </p:nvPicPr>
        <p:blipFill>
          <a:blip r:embed="rId4">
            <a:alphaModFix/>
          </a:blip>
          <a:stretch>
            <a:fillRect/>
          </a:stretch>
        </p:blipFill>
        <p:spPr>
          <a:xfrm>
            <a:off x="1072166" y="2345766"/>
            <a:ext cx="1975900" cy="217050"/>
          </a:xfrm>
          <a:prstGeom prst="rect">
            <a:avLst/>
          </a:prstGeom>
          <a:noFill/>
          <a:ln>
            <a:noFill/>
          </a:ln>
        </p:spPr>
      </p:pic>
      <p:pic>
        <p:nvPicPr>
          <p:cNvPr id="191" name="Google Shape;191;p26"/>
          <p:cNvPicPr preferRelativeResize="0"/>
          <p:nvPr/>
        </p:nvPicPr>
        <p:blipFill>
          <a:blip r:embed="rId5">
            <a:alphaModFix/>
          </a:blip>
          <a:stretch>
            <a:fillRect/>
          </a:stretch>
        </p:blipFill>
        <p:spPr>
          <a:xfrm>
            <a:off x="3595575" y="2693900"/>
            <a:ext cx="2451894" cy="2000825"/>
          </a:xfrm>
          <a:prstGeom prst="rect">
            <a:avLst/>
          </a:prstGeom>
          <a:noFill/>
          <a:ln>
            <a:noFill/>
          </a:ln>
        </p:spPr>
      </p:pic>
      <p:pic>
        <p:nvPicPr>
          <p:cNvPr id="192" name="Google Shape;192;p26"/>
          <p:cNvPicPr preferRelativeResize="0"/>
          <p:nvPr/>
        </p:nvPicPr>
        <p:blipFill>
          <a:blip r:embed="rId6">
            <a:alphaModFix/>
          </a:blip>
          <a:stretch>
            <a:fillRect/>
          </a:stretch>
        </p:blipFill>
        <p:spPr>
          <a:xfrm>
            <a:off x="3595575" y="2372063"/>
            <a:ext cx="2451899" cy="164475"/>
          </a:xfrm>
          <a:prstGeom prst="rect">
            <a:avLst/>
          </a:prstGeom>
          <a:noFill/>
          <a:ln>
            <a:noFill/>
          </a:ln>
        </p:spPr>
      </p:pic>
      <p:pic>
        <p:nvPicPr>
          <p:cNvPr id="193" name="Google Shape;193;p26"/>
          <p:cNvPicPr preferRelativeResize="0"/>
          <p:nvPr/>
        </p:nvPicPr>
        <p:blipFill>
          <a:blip r:embed="rId7">
            <a:alphaModFix/>
          </a:blip>
          <a:stretch>
            <a:fillRect/>
          </a:stretch>
        </p:blipFill>
        <p:spPr>
          <a:xfrm>
            <a:off x="6317025" y="2685200"/>
            <a:ext cx="2451900" cy="2018227"/>
          </a:xfrm>
          <a:prstGeom prst="rect">
            <a:avLst/>
          </a:prstGeom>
          <a:noFill/>
          <a:ln>
            <a:noFill/>
          </a:ln>
        </p:spPr>
      </p:pic>
      <p:pic>
        <p:nvPicPr>
          <p:cNvPr id="194" name="Google Shape;194;p26"/>
          <p:cNvPicPr preferRelativeResize="0"/>
          <p:nvPr/>
        </p:nvPicPr>
        <p:blipFill>
          <a:blip r:embed="rId8">
            <a:alphaModFix/>
          </a:blip>
          <a:stretch>
            <a:fillRect/>
          </a:stretch>
        </p:blipFill>
        <p:spPr>
          <a:xfrm>
            <a:off x="6302398" y="2372075"/>
            <a:ext cx="2481174" cy="16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The Power of the Ensemble</a:t>
            </a:r>
            <a:endParaRPr>
              <a:latin typeface="Times New Roman"/>
              <a:ea typeface="Times New Roman"/>
              <a:cs typeface="Times New Roman"/>
              <a:sym typeface="Times New Roman"/>
            </a:endParaRPr>
          </a:p>
        </p:txBody>
      </p:sp>
      <p:sp>
        <p:nvSpPr>
          <p:cNvPr id="200" name="Google Shape;200;p27"/>
          <p:cNvSpPr txBox="1"/>
          <p:nvPr>
            <p:ph idx="1" type="body"/>
          </p:nvPr>
        </p:nvSpPr>
        <p:spPr>
          <a:xfrm>
            <a:off x="261675" y="1229450"/>
            <a:ext cx="3747300" cy="3814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The best performing model was yet again the random forest</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 sz="1900">
                <a:latin typeface="Times New Roman"/>
                <a:ea typeface="Times New Roman"/>
                <a:cs typeface="Times New Roman"/>
                <a:sym typeface="Times New Roman"/>
              </a:rPr>
              <a:t>Decision tree struggled the most </a:t>
            </a:r>
            <a:r>
              <a:rPr lang="en" sz="1900">
                <a:latin typeface="Times New Roman"/>
                <a:ea typeface="Times New Roman"/>
                <a:cs typeface="Times New Roman"/>
                <a:sym typeface="Times New Roman"/>
              </a:rPr>
              <a:t>because the decision overfits and memorizes training data rather than learning the patterns</a:t>
            </a:r>
            <a:endParaRPr sz="1900">
              <a:latin typeface="Times New Roman"/>
              <a:ea typeface="Times New Roman"/>
              <a:cs typeface="Times New Roman"/>
              <a:sym typeface="Times New Roman"/>
            </a:endParaRPr>
          </a:p>
        </p:txBody>
      </p:sp>
      <p:pic>
        <p:nvPicPr>
          <p:cNvPr id="201" name="Google Shape;201;p27"/>
          <p:cNvPicPr preferRelativeResize="0"/>
          <p:nvPr/>
        </p:nvPicPr>
        <p:blipFill>
          <a:blip r:embed="rId3">
            <a:alphaModFix/>
          </a:blip>
          <a:stretch>
            <a:fillRect/>
          </a:stretch>
        </p:blipFill>
        <p:spPr>
          <a:xfrm>
            <a:off x="4142850" y="3696925"/>
            <a:ext cx="4793900" cy="1346725"/>
          </a:xfrm>
          <a:prstGeom prst="rect">
            <a:avLst/>
          </a:prstGeom>
          <a:noFill/>
          <a:ln>
            <a:noFill/>
          </a:ln>
        </p:spPr>
      </p:pic>
      <p:pic>
        <p:nvPicPr>
          <p:cNvPr id="202" name="Google Shape;202;p27"/>
          <p:cNvPicPr preferRelativeResize="0"/>
          <p:nvPr/>
        </p:nvPicPr>
        <p:blipFill>
          <a:blip r:embed="rId4">
            <a:alphaModFix/>
          </a:blip>
          <a:stretch>
            <a:fillRect/>
          </a:stretch>
        </p:blipFill>
        <p:spPr>
          <a:xfrm>
            <a:off x="5444289" y="3456250"/>
            <a:ext cx="2191023" cy="240675"/>
          </a:xfrm>
          <a:prstGeom prst="rect">
            <a:avLst/>
          </a:prstGeom>
          <a:noFill/>
          <a:ln>
            <a:noFill/>
          </a:ln>
        </p:spPr>
      </p:pic>
      <p:pic>
        <p:nvPicPr>
          <p:cNvPr id="203" name="Google Shape;203;p27"/>
          <p:cNvPicPr preferRelativeResize="0"/>
          <p:nvPr/>
        </p:nvPicPr>
        <p:blipFill>
          <a:blip r:embed="rId5">
            <a:alphaModFix/>
          </a:blip>
          <a:stretch>
            <a:fillRect/>
          </a:stretch>
        </p:blipFill>
        <p:spPr>
          <a:xfrm>
            <a:off x="4100974" y="2402495"/>
            <a:ext cx="4793900" cy="1038731"/>
          </a:xfrm>
          <a:prstGeom prst="rect">
            <a:avLst/>
          </a:prstGeom>
          <a:noFill/>
          <a:ln>
            <a:noFill/>
          </a:ln>
        </p:spPr>
      </p:pic>
      <p:pic>
        <p:nvPicPr>
          <p:cNvPr id="204" name="Google Shape;204;p27"/>
          <p:cNvPicPr preferRelativeResize="0"/>
          <p:nvPr/>
        </p:nvPicPr>
        <p:blipFill>
          <a:blip r:embed="rId6">
            <a:alphaModFix/>
          </a:blip>
          <a:stretch>
            <a:fillRect/>
          </a:stretch>
        </p:blipFill>
        <p:spPr>
          <a:xfrm>
            <a:off x="5257348" y="2223000"/>
            <a:ext cx="2481174" cy="164475"/>
          </a:xfrm>
          <a:prstGeom prst="rect">
            <a:avLst/>
          </a:prstGeom>
          <a:noFill/>
          <a:ln>
            <a:noFill/>
          </a:ln>
        </p:spPr>
      </p:pic>
      <p:pic>
        <p:nvPicPr>
          <p:cNvPr id="205" name="Google Shape;205;p27"/>
          <p:cNvPicPr preferRelativeResize="0"/>
          <p:nvPr/>
        </p:nvPicPr>
        <p:blipFill>
          <a:blip r:embed="rId7">
            <a:alphaModFix/>
          </a:blip>
          <a:stretch>
            <a:fillRect/>
          </a:stretch>
        </p:blipFill>
        <p:spPr>
          <a:xfrm>
            <a:off x="4100975" y="1174647"/>
            <a:ext cx="4793901" cy="1033331"/>
          </a:xfrm>
          <a:prstGeom prst="rect">
            <a:avLst/>
          </a:prstGeom>
          <a:noFill/>
          <a:ln>
            <a:noFill/>
          </a:ln>
        </p:spPr>
      </p:pic>
      <p:pic>
        <p:nvPicPr>
          <p:cNvPr id="206" name="Google Shape;206;p27"/>
          <p:cNvPicPr preferRelativeResize="0"/>
          <p:nvPr/>
        </p:nvPicPr>
        <p:blipFill>
          <a:blip r:embed="rId8">
            <a:alphaModFix/>
          </a:blip>
          <a:stretch>
            <a:fillRect/>
          </a:stretch>
        </p:blipFill>
        <p:spPr>
          <a:xfrm>
            <a:off x="5257337" y="959066"/>
            <a:ext cx="2481175" cy="1471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p:nvPr/>
        </p:nvSpPr>
        <p:spPr>
          <a:xfrm>
            <a:off x="494850" y="974725"/>
            <a:ext cx="1289700" cy="46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2" name="Google Shape;212;p2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Conclusions, Limitations, and Future work</a:t>
            </a:r>
            <a:endParaRPr>
              <a:latin typeface="Times New Roman"/>
              <a:ea typeface="Times New Roman"/>
              <a:cs typeface="Times New Roman"/>
              <a:sym typeface="Times New Roman"/>
            </a:endParaRPr>
          </a:p>
        </p:txBody>
      </p:sp>
      <p:sp>
        <p:nvSpPr>
          <p:cNvPr id="213" name="Google Shape;213;p28"/>
          <p:cNvSpPr txBox="1"/>
          <p:nvPr>
            <p:ph idx="1" type="body"/>
          </p:nvPr>
        </p:nvSpPr>
        <p:spPr>
          <a:xfrm>
            <a:off x="0" y="572700"/>
            <a:ext cx="9144000" cy="457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latin typeface="Times New Roman"/>
                <a:ea typeface="Times New Roman"/>
                <a:cs typeface="Times New Roman"/>
                <a:sym typeface="Times New Roman"/>
              </a:rPr>
              <a:t>Conclusion:</a:t>
            </a:r>
            <a:endParaRPr sz="1700">
              <a:latin typeface="Times New Roman"/>
              <a:ea typeface="Times New Roman"/>
              <a:cs typeface="Times New Roman"/>
              <a:sym typeface="Times New Roman"/>
            </a:endParaRPr>
          </a:p>
          <a:p>
            <a:pPr indent="-336550" lvl="0" marL="457200" rtl="0" algn="l">
              <a:spcBef>
                <a:spcPts val="1200"/>
              </a:spcBef>
              <a:spcAft>
                <a:spcPts val="0"/>
              </a:spcAft>
              <a:buSzPts val="1700"/>
              <a:buFont typeface="Times New Roman"/>
              <a:buChar char="-"/>
            </a:pPr>
            <a:r>
              <a:rPr lang="en" sz="1700">
                <a:latin typeface="Times New Roman"/>
                <a:ea typeface="Times New Roman"/>
                <a:cs typeface="Times New Roman"/>
                <a:sym typeface="Times New Roman"/>
              </a:rPr>
              <a:t>Strict reliance on the frequency of 31 function words is efficient and computationally cheap for language classification.</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The Random Forest model was the best performing architecture.</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The pipeline was successful at identifying English because its function words are highly isolated.</a:t>
            </a:r>
            <a:endParaRPr sz="1700">
              <a:latin typeface="Times New Roman"/>
              <a:ea typeface="Times New Roman"/>
              <a:cs typeface="Times New Roman"/>
              <a:sym typeface="Times New Roman"/>
            </a:endParaRPr>
          </a:p>
          <a:p>
            <a:pPr indent="0" lvl="0" marL="0" rtl="0" algn="l">
              <a:spcBef>
                <a:spcPts val="1200"/>
              </a:spcBef>
              <a:spcAft>
                <a:spcPts val="0"/>
              </a:spcAft>
              <a:buNone/>
            </a:pPr>
            <a:r>
              <a:rPr b="1" lang="en" sz="1700">
                <a:latin typeface="Times New Roman"/>
                <a:ea typeface="Times New Roman"/>
                <a:cs typeface="Times New Roman"/>
                <a:sym typeface="Times New Roman"/>
              </a:rPr>
              <a:t>Limitations:</a:t>
            </a:r>
            <a:endParaRPr sz="1700">
              <a:latin typeface="Times New Roman"/>
              <a:ea typeface="Times New Roman"/>
              <a:cs typeface="Times New Roman"/>
              <a:sym typeface="Times New Roman"/>
            </a:endParaRPr>
          </a:p>
          <a:p>
            <a:pPr indent="-336550" lvl="0" marL="457200" rtl="0" algn="l">
              <a:spcBef>
                <a:spcPts val="1200"/>
              </a:spcBef>
              <a:spcAft>
                <a:spcPts val="0"/>
              </a:spcAft>
              <a:buSzPts val="1700"/>
              <a:buFont typeface="Times New Roman"/>
              <a:buChar char="-"/>
            </a:pPr>
            <a:r>
              <a:rPr lang="en" sz="1700">
                <a:latin typeface="Times New Roman"/>
                <a:ea typeface="Times New Roman"/>
                <a:cs typeface="Times New Roman"/>
                <a:sym typeface="Times New Roman"/>
              </a:rPr>
              <a:t>The models struggled in differentiating between French and Spanish due to shared structure and overlapping function words.</a:t>
            </a:r>
            <a:endParaRPr sz="1700">
              <a:latin typeface="Times New Roman"/>
              <a:ea typeface="Times New Roman"/>
              <a:cs typeface="Times New Roman"/>
              <a:sym typeface="Times New Roman"/>
            </a:endParaRPr>
          </a:p>
          <a:p>
            <a:pPr indent="-336550" lvl="0" marL="457200" rtl="0" algn="l">
              <a:spcBef>
                <a:spcPts val="0"/>
              </a:spcBef>
              <a:spcAft>
                <a:spcPts val="0"/>
              </a:spcAft>
              <a:buSzPts val="1700"/>
              <a:buFont typeface="Times New Roman"/>
              <a:buChar char="-"/>
            </a:pPr>
            <a:r>
              <a:rPr lang="en" sz="1700">
                <a:latin typeface="Times New Roman"/>
                <a:ea typeface="Times New Roman"/>
                <a:cs typeface="Times New Roman"/>
                <a:sym typeface="Times New Roman"/>
              </a:rPr>
              <a:t>The primary limitations are the model's inability to classify text lacking the 31 hardcoded function words and its incompatibility with non-Latin scripts.</a:t>
            </a:r>
            <a:endParaRPr sz="1700">
              <a:latin typeface="Times New Roman"/>
              <a:ea typeface="Times New Roman"/>
              <a:cs typeface="Times New Roman"/>
              <a:sym typeface="Times New Roman"/>
            </a:endParaRPr>
          </a:p>
          <a:p>
            <a:pPr indent="0" lvl="0" marL="0" rtl="0" algn="l">
              <a:spcBef>
                <a:spcPts val="1200"/>
              </a:spcBef>
              <a:spcAft>
                <a:spcPts val="0"/>
              </a:spcAft>
              <a:buNone/>
            </a:pPr>
            <a:r>
              <a:rPr b="1" lang="en" sz="1700">
                <a:latin typeface="Times New Roman"/>
                <a:ea typeface="Times New Roman"/>
                <a:cs typeface="Times New Roman"/>
                <a:sym typeface="Times New Roman"/>
              </a:rPr>
              <a:t>Future work:</a:t>
            </a:r>
            <a:r>
              <a:rPr lang="en" sz="1700">
                <a:latin typeface="Times New Roman"/>
                <a:ea typeface="Times New Roman"/>
                <a:cs typeface="Times New Roman"/>
                <a:sym typeface="Times New Roman"/>
              </a:rPr>
              <a:t> using N-grams to better differentiate similar Romance languages.</a:t>
            </a:r>
            <a:endParaRPr sz="1700">
              <a:latin typeface="Times New Roman"/>
              <a:ea typeface="Times New Roman"/>
              <a:cs typeface="Times New Roman"/>
              <a:sym typeface="Times New Roman"/>
            </a:endParaRPr>
          </a:p>
          <a:p>
            <a:pPr indent="0" lvl="0" marL="0" rtl="0" algn="l">
              <a:spcBef>
                <a:spcPts val="1200"/>
              </a:spcBef>
              <a:spcAft>
                <a:spcPts val="1200"/>
              </a:spcAft>
              <a:buNone/>
            </a:pPr>
            <a:r>
              <a:t/>
            </a:r>
            <a:endParaRPr sz="19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Acknowledgments</a:t>
            </a:r>
            <a:endParaRPr>
              <a:latin typeface="Times New Roman"/>
              <a:ea typeface="Times New Roman"/>
              <a:cs typeface="Times New Roman"/>
              <a:sym typeface="Times New Roman"/>
            </a:endParaRPr>
          </a:p>
        </p:txBody>
      </p:sp>
      <p:sp>
        <p:nvSpPr>
          <p:cNvPr id="219" name="Google Shape;219;p29"/>
          <p:cNvSpPr txBox="1"/>
          <p:nvPr>
            <p:ph idx="1" type="body"/>
          </p:nvPr>
        </p:nvSpPr>
        <p:spPr>
          <a:xfrm>
            <a:off x="0" y="572700"/>
            <a:ext cx="9144000" cy="45708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Zara Khan, the author of the dataset: </a:t>
            </a:r>
            <a:r>
              <a:rPr lang="en" sz="1700" u="sng">
                <a:solidFill>
                  <a:schemeClr val="hlink"/>
                </a:solidFill>
                <a:hlinkClick r:id="rId3"/>
              </a:rPr>
              <a:t>https://www.kaggle.com/datasets/zarajamshaid/language-identification-datasst</a:t>
            </a:r>
            <a:endParaRPr sz="1700"/>
          </a:p>
          <a:p>
            <a:pPr indent="-336550" lvl="0" marL="457200" rtl="0" algn="l">
              <a:spcBef>
                <a:spcPts val="0"/>
              </a:spcBef>
              <a:spcAft>
                <a:spcPts val="0"/>
              </a:spcAft>
              <a:buSzPts val="1700"/>
              <a:buChar char="-"/>
            </a:pPr>
            <a:r>
              <a:rPr lang="en" sz="1700"/>
              <a:t>Scikit-learn: ML algorithms</a:t>
            </a:r>
            <a:endParaRPr sz="1700"/>
          </a:p>
          <a:p>
            <a:pPr indent="0" lvl="0" marL="457200" rtl="0" algn="l">
              <a:spcBef>
                <a:spcPts val="1200"/>
              </a:spcBef>
              <a:spcAft>
                <a:spcPts val="0"/>
              </a:spcAft>
              <a:buNone/>
            </a:pPr>
            <a:r>
              <a:rPr lang="en" sz="1700"/>
              <a:t>https://scikit-learn.org/</a:t>
            </a:r>
            <a:endParaRPr sz="1700"/>
          </a:p>
          <a:p>
            <a:pPr indent="-336550" lvl="0" marL="457200" rtl="0" algn="l">
              <a:spcBef>
                <a:spcPts val="1200"/>
              </a:spcBef>
              <a:spcAft>
                <a:spcPts val="0"/>
              </a:spcAft>
              <a:buSzPts val="1700"/>
              <a:buChar char="-"/>
            </a:pPr>
            <a:r>
              <a:rPr lang="en" sz="1700"/>
              <a:t>Joblib</a:t>
            </a:r>
            <a:endParaRPr sz="1700"/>
          </a:p>
          <a:p>
            <a:pPr indent="0" lvl="0" marL="457200" rtl="0" algn="l">
              <a:spcBef>
                <a:spcPts val="1200"/>
              </a:spcBef>
              <a:spcAft>
                <a:spcPts val="0"/>
              </a:spcAft>
              <a:buNone/>
            </a:pPr>
            <a:r>
              <a:rPr lang="en" sz="1700"/>
              <a:t>https://joblib.readthedocs.io/en/stable/</a:t>
            </a:r>
            <a:endParaRPr sz="1700"/>
          </a:p>
          <a:p>
            <a:pPr indent="-336550" lvl="0" marL="457200" rtl="0" algn="l">
              <a:spcBef>
                <a:spcPts val="1200"/>
              </a:spcBef>
              <a:spcAft>
                <a:spcPts val="0"/>
              </a:spcAft>
              <a:buSzPts val="1700"/>
              <a:buChar char="-"/>
            </a:pPr>
            <a:r>
              <a:rPr lang="en" sz="1700"/>
              <a:t>NumPy: Confusion matrix</a:t>
            </a:r>
            <a:endParaRPr sz="1700"/>
          </a:p>
          <a:p>
            <a:pPr indent="0" lvl="0" marL="457200" rtl="0" algn="l">
              <a:spcBef>
                <a:spcPts val="1200"/>
              </a:spcBef>
              <a:spcAft>
                <a:spcPts val="0"/>
              </a:spcAft>
              <a:buNone/>
            </a:pPr>
            <a:r>
              <a:rPr lang="en" sz="1700"/>
              <a:t>https://numpy.org/</a:t>
            </a:r>
            <a:endParaRPr sz="1700"/>
          </a:p>
          <a:p>
            <a:pPr indent="-336550" lvl="0" marL="457200" rtl="0" algn="l">
              <a:spcBef>
                <a:spcPts val="1200"/>
              </a:spcBef>
              <a:spcAft>
                <a:spcPts val="0"/>
              </a:spcAft>
              <a:buSzPts val="1700"/>
              <a:buChar char="-"/>
            </a:pPr>
            <a:r>
              <a:rPr lang="en" sz="1700"/>
              <a:t>Matplotlib for plotting: </a:t>
            </a:r>
            <a:r>
              <a:rPr lang="en" sz="1700" u="sng">
                <a:solidFill>
                  <a:schemeClr val="hlink"/>
                </a:solidFill>
                <a:hlinkClick r:id="rId4"/>
              </a:rPr>
              <a:t>https://matplotlib.org/</a:t>
            </a:r>
            <a:endParaRPr sz="1700"/>
          </a:p>
          <a:p>
            <a:pPr indent="-336550" lvl="0" marL="457200" rtl="0" algn="l">
              <a:spcBef>
                <a:spcPts val="0"/>
              </a:spcBef>
              <a:spcAft>
                <a:spcPts val="0"/>
              </a:spcAft>
              <a:buSzPts val="1700"/>
              <a:buChar char="-"/>
            </a:pPr>
            <a:r>
              <a:rPr lang="en" sz="1700"/>
              <a:t>Slides from Professor Suresh Pokharel.</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